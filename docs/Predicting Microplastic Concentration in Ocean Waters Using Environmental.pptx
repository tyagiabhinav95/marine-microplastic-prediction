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60" r:id="rId4"/>
    <p:sldId id="259" r:id="rId5"/>
    <p:sldId id="261" r:id="rId6"/>
    <p:sldId id="268" r:id="rId7"/>
    <p:sldId id="269" r:id="rId8"/>
    <p:sldId id="263" r:id="rId9"/>
    <p:sldId id="264" r:id="rId10"/>
    <p:sldId id="262" r:id="rId11"/>
    <p:sldId id="266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0" d="100"/>
          <a:sy n="70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8207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2090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9760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1605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44441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7191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70309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40361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83541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77933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2761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3031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3435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86037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993748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213624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90700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E93A42D-D191-41AA-B9AA-10F89E840D44}" type="datetimeFigureOut">
              <a:rPr lang="en-IE" smtClean="0"/>
              <a:t>07/01/2026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4FD9E8C-4DDE-491E-9DC4-0FC8EB18FA5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3500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B9E0-9FFB-5E29-F817-797A8D13C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en-US" sz="3200" dirty="0"/>
              <a:t>Predicting Microplastic Concentration in Ocean Waters Using Environmental, Spatial, and Sampling-Related Features</a:t>
            </a:r>
            <a:endParaRPr lang="en-IE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686CB-0BBD-7BD2-CAC9-ACDDA998F6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87638"/>
            <a:ext cx="9144000" cy="1655762"/>
          </a:xfrm>
        </p:spPr>
        <p:txBody>
          <a:bodyPr>
            <a:normAutofit/>
          </a:bodyPr>
          <a:lstStyle/>
          <a:p>
            <a:r>
              <a:rPr lang="en-US" sz="2000" dirty="0"/>
              <a:t>A Machine Learning and Visual Analytics Approach</a:t>
            </a:r>
            <a:endParaRPr lang="en-IE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DB17DE-C008-B70A-A3D0-D639AD7CD5D5}"/>
              </a:ext>
            </a:extLst>
          </p:cNvPr>
          <p:cNvSpPr txBox="1"/>
          <p:nvPr/>
        </p:nvSpPr>
        <p:spPr>
          <a:xfrm>
            <a:off x="0" y="6073169"/>
            <a:ext cx="3217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Abhinav Tyagi</a:t>
            </a:r>
          </a:p>
          <a:p>
            <a:r>
              <a:rPr lang="en-US" dirty="0"/>
              <a:t>Student ID: 20028460</a:t>
            </a:r>
          </a:p>
          <a:p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64F28-812A-7525-2A3D-65DB5DEC4A39}"/>
              </a:ext>
            </a:extLst>
          </p:cNvPr>
          <p:cNvSpPr txBox="1"/>
          <p:nvPr/>
        </p:nvSpPr>
        <p:spPr>
          <a:xfrm>
            <a:off x="9965802" y="6073169"/>
            <a:ext cx="297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Supervisor:</a:t>
            </a:r>
          </a:p>
          <a:p>
            <a:r>
              <a:rPr lang="en-IE" dirty="0"/>
              <a:t>Dr Sajal Kaur Minhas</a:t>
            </a:r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A27F6B82-522D-1D50-CB70-1E09FF591D1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17078" y="3178442"/>
            <a:ext cx="1371600" cy="904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13102E-2F9C-E24F-4274-075630888398}"/>
              </a:ext>
            </a:extLst>
          </p:cNvPr>
          <p:cNvSpPr txBox="1"/>
          <p:nvPr/>
        </p:nvSpPr>
        <p:spPr>
          <a:xfrm>
            <a:off x="4238870" y="4389455"/>
            <a:ext cx="3575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MSc Business Analytics (2025-2026)</a:t>
            </a:r>
            <a:endParaRPr lang="en-IE" dirty="0"/>
          </a:p>
        </p:txBody>
      </p:sp>
      <p:pic>
        <p:nvPicPr>
          <p:cNvPr id="11" name="Picture 10" descr="Plastic bottles floating in water&#10;&#10;AI-generated content may be incorrect.">
            <a:extLst>
              <a:ext uri="{FF2B5EF4-FFF2-40B4-BE49-F238E27FC236}">
                <a16:creationId xmlns:a16="http://schemas.microsoft.com/office/drawing/2014/main" id="{1CF82F0D-B1DF-05F3-ECA5-2FFC3FBFC8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823" y="4804842"/>
            <a:ext cx="6685808" cy="207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85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75D1E-D63E-1AE4-F066-A832265C4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motivation</a:t>
            </a:r>
            <a:endParaRPr lang="en-I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68634A-113B-21FE-F4BA-A03512590EC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2200828"/>
            <a:ext cx="10085531" cy="465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In Global Plastic Production And Mismanaged Waste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Microplastics (&lt;5 Mm) Detected Across All Ocean Basins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Ecological And Potential Human Health Risks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Spatial Variability Remains Challenging Due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Ocean Dynamics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Anthropogenic Influences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Heterogeneity</a:t>
            </a:r>
          </a:p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  <a:b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Explore Whether Machine Learning Can Provide Scalable, Predictive Insight Into Global Microplastic Concentration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975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C14B2-73E0-6F70-6C3A-AE6CFB81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Research problem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1DACA-E048-629C-89D8-77D404767F4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214694"/>
            <a:ext cx="10363826" cy="39758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E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Are Either: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Region-specific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Intensive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Easily Scalable</a:t>
            </a:r>
          </a:p>
          <a:p>
            <a:pPr marL="0" indent="0">
              <a:buNone/>
            </a:pPr>
            <a:r>
              <a:rPr lang="en-IE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buFont typeface="+mj-lt"/>
              <a:buAutoNum type="arabicPeriod"/>
            </a:pPr>
            <a:r>
              <a:rPr lang="en-IE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Global Microplastic, Oceanographic, And Anthropogenic Datasets</a:t>
            </a:r>
          </a:p>
          <a:p>
            <a:pPr>
              <a:buFont typeface="+mj-lt"/>
              <a:buAutoNum type="arabicPeriod"/>
            </a:pPr>
            <a:r>
              <a:rPr lang="en-IE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 Compare Multiple ML Regression Models</a:t>
            </a:r>
          </a:p>
          <a:p>
            <a:pPr>
              <a:buFont typeface="+mj-lt"/>
              <a:buAutoNum type="arabicPeriod"/>
            </a:pPr>
            <a:r>
              <a:rPr lang="en-IE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Environmental And Human Drivers</a:t>
            </a:r>
          </a:p>
          <a:p>
            <a:pPr>
              <a:buFont typeface="+mj-lt"/>
              <a:buAutoNum type="arabicPeriod"/>
            </a:pPr>
            <a:r>
              <a:rPr lang="en-IE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Predictive Performance And Generalisability</a:t>
            </a: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E" b="1" dirty="0"/>
          </a:p>
        </p:txBody>
      </p:sp>
    </p:spTree>
    <p:extLst>
      <p:ext uri="{BB962C8B-B14F-4D97-AF65-F5344CB8AC3E}">
        <p14:creationId xmlns:p14="http://schemas.microsoft.com/office/powerpoint/2010/main" val="2742155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8ED0A-5C65-433E-ED37-41391DD8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Reference Research Study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93755D-2E83-E537-2F86-826B89256E4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0" y="2116660"/>
            <a:ext cx="5012911" cy="4517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Referred Study Overview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</a:p>
          <a:p>
            <a:pPr marL="742950" lvl="1" indent="-285750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Classify Marine Plastic Waste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Two-step Clustering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Convolutional Neural Network (FCN)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Kaggle Plastic Location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Reported Accuracy: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98.38%</a:t>
            </a:r>
          </a:p>
          <a:p>
            <a:pPr>
              <a:buFont typeface="Arial" panose="020B0604020202020204" pitchFamily="34" charset="0"/>
              <a:buChar char="•"/>
            </a:pP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E89274-E399-17B2-C3DB-1D7944047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731847"/>
              </p:ext>
            </p:extLst>
          </p:nvPr>
        </p:nvGraphicFramePr>
        <p:xfrm>
          <a:off x="5076967" y="2767595"/>
          <a:ext cx="6723774" cy="2677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258">
                  <a:extLst>
                    <a:ext uri="{9D8B030D-6E8A-4147-A177-3AD203B41FA5}">
                      <a16:colId xmlns:a16="http://schemas.microsoft.com/office/drawing/2014/main" val="1925109623"/>
                    </a:ext>
                  </a:extLst>
                </a:gridCol>
                <a:gridCol w="2241258">
                  <a:extLst>
                    <a:ext uri="{9D8B030D-6E8A-4147-A177-3AD203B41FA5}">
                      <a16:colId xmlns:a16="http://schemas.microsoft.com/office/drawing/2014/main" val="3858757498"/>
                    </a:ext>
                  </a:extLst>
                </a:gridCol>
                <a:gridCol w="2241258">
                  <a:extLst>
                    <a:ext uri="{9D8B030D-6E8A-4147-A177-3AD203B41FA5}">
                      <a16:colId xmlns:a16="http://schemas.microsoft.com/office/drawing/2014/main" val="66440870"/>
                    </a:ext>
                  </a:extLst>
                </a:gridCol>
              </a:tblGrid>
              <a:tr h="467665">
                <a:tc>
                  <a:txBody>
                    <a:bodyPr/>
                    <a:lstStyle/>
                    <a:p>
                      <a:r>
                        <a:rPr lang="en-IE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E"/>
                        <a:t>Reference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E"/>
                        <a:t>This Dissertation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680514"/>
                  </a:ext>
                </a:extLst>
              </a:tr>
              <a:tr h="467665">
                <a:tc>
                  <a:txBody>
                    <a:bodyPr/>
                    <a:lstStyle/>
                    <a:p>
                      <a:r>
                        <a:rPr lang="en-IE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E"/>
                        <a:t>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E"/>
                        <a:t>Regression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9900572"/>
                  </a:ext>
                </a:extLst>
              </a:tr>
              <a:tr h="467665">
                <a:tc>
                  <a:txBody>
                    <a:bodyPr/>
                    <a:lstStyle/>
                    <a:p>
                      <a:r>
                        <a:rPr lang="en-IE"/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E"/>
                        <a:t>Local / system-based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E"/>
                        <a:t>Global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677839"/>
                  </a:ext>
                </a:extLst>
              </a:tr>
              <a:tr h="807202">
                <a:tc>
                  <a:txBody>
                    <a:bodyPr/>
                    <a:lstStyle/>
                    <a:p>
                      <a:r>
                        <a:rPr lang="en-IE"/>
                        <a:t>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E"/>
                        <a:t>Image &amp; location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E"/>
                        <a:t>Environmental + sampling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137018"/>
                  </a:ext>
                </a:extLst>
              </a:tr>
              <a:tr h="467665">
                <a:tc>
                  <a:txBody>
                    <a:bodyPr/>
                    <a:lstStyle/>
                    <a:p>
                      <a:r>
                        <a:rPr lang="en-IE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E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R², RMSE, MAE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9776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90043C2-8D1D-44BD-7C13-08DD8B8A52BE}"/>
              </a:ext>
            </a:extLst>
          </p:cNvPr>
          <p:cNvSpPr txBox="1"/>
          <p:nvPr/>
        </p:nvSpPr>
        <p:spPr>
          <a:xfrm>
            <a:off x="6368955" y="2214694"/>
            <a:ext cx="4508310" cy="429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Difference from This Study </a:t>
            </a:r>
            <a:endParaRPr lang="en-IE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34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08D5F-B697-10EB-84D2-4E70711E3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461" y="-14848"/>
            <a:ext cx="10364451" cy="1596177"/>
          </a:xfrm>
        </p:spPr>
        <p:txBody>
          <a:bodyPr/>
          <a:lstStyle/>
          <a:p>
            <a:r>
              <a:rPr lang="en-IE" dirty="0"/>
              <a:t>Data Sources and Data integration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CBB16E-BF27-A495-D94B-9BE53B43D51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63773" y="1719617"/>
            <a:ext cx="11668836" cy="435544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Microplastic Observations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cap="none" dirty="0">
                <a:solidFill>
                  <a:schemeClr val="tx1"/>
                </a:solidFill>
                <a:latin typeface="Arial" panose="020B0604020202020204" pitchFamily="34" charset="0"/>
              </a:rPr>
              <a:t>Oceanographic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Anthropogenic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8D1D97-B24D-CAAA-BE99-2357BE78FA95}"/>
              </a:ext>
            </a:extLst>
          </p:cNvPr>
          <p:cNvSpPr/>
          <p:nvPr/>
        </p:nvSpPr>
        <p:spPr>
          <a:xfrm>
            <a:off x="359391" y="2299647"/>
            <a:ext cx="1897038" cy="105087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Microplastic measurement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Sampling method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Mesh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(Year, Month)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Latitude &amp; Longitude</a:t>
            </a:r>
          </a:p>
          <a:p>
            <a:pPr algn="ctr"/>
            <a:endParaRPr lang="en-IE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E5E07F-82BA-B5E3-AD58-3C11E3C64EF1}"/>
              </a:ext>
            </a:extLst>
          </p:cNvPr>
          <p:cNvSpPr/>
          <p:nvPr/>
        </p:nvSpPr>
        <p:spPr>
          <a:xfrm>
            <a:off x="8720292" y="2969240"/>
            <a:ext cx="2279177" cy="241735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Machine Learning Pipeline</a:t>
            </a:r>
          </a:p>
          <a:p>
            <a:pPr algn="ctr"/>
            <a:endParaRPr lang="en-IE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Boosting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 Network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</a:p>
          <a:p>
            <a:pPr algn="ctr"/>
            <a:endParaRPr lang="en-IE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12B7A21-4B18-B369-5F0C-2AF5C4710A43}"/>
              </a:ext>
            </a:extLst>
          </p:cNvPr>
          <p:cNvSpPr/>
          <p:nvPr/>
        </p:nvSpPr>
        <p:spPr>
          <a:xfrm>
            <a:off x="326295" y="3727545"/>
            <a:ext cx="1897038" cy="90075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Ocean current speed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 surface temperature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Salinity</a:t>
            </a:r>
          </a:p>
          <a:p>
            <a:pPr algn="ctr"/>
            <a:endParaRPr lang="en-IE" sz="1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DA66842-3438-AA56-09A9-1D120E01A5D1}"/>
              </a:ext>
            </a:extLst>
          </p:cNvPr>
          <p:cNvSpPr/>
          <p:nvPr/>
        </p:nvSpPr>
        <p:spPr>
          <a:xfrm>
            <a:off x="359391" y="5049672"/>
            <a:ext cx="1897038" cy="90075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000" dirty="0">
                <a:solidFill>
                  <a:schemeClr val="tx1"/>
                </a:solidFill>
                <a:latin typeface="Arial" panose="020B0604020202020204" pitchFamily="34" charset="0"/>
              </a:rPr>
              <a:t>Population density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IE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6C70ED-772D-F15F-F7B5-FCF3B2C7B02C}"/>
              </a:ext>
            </a:extLst>
          </p:cNvPr>
          <p:cNvSpPr/>
          <p:nvPr/>
        </p:nvSpPr>
        <p:spPr>
          <a:xfrm>
            <a:off x="3943263" y="3236225"/>
            <a:ext cx="3057099" cy="188339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Data Preprocessing &amp; Feature Engineering</a:t>
            </a:r>
          </a:p>
          <a:p>
            <a:pPr algn="ctr"/>
            <a:endParaRPr lang="en-IE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Encoding (categorical features)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Scaling (numerical features)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Train–test split</a:t>
            </a:r>
          </a:p>
          <a:p>
            <a:pPr algn="ctr"/>
            <a:endParaRPr lang="en-IE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7EFE9F5-CF67-5BBA-AEB6-D1F1B9AEAAB1}"/>
              </a:ext>
            </a:extLst>
          </p:cNvPr>
          <p:cNvCxnSpPr/>
          <p:nvPr/>
        </p:nvCxnSpPr>
        <p:spPr>
          <a:xfrm>
            <a:off x="2307650" y="2969240"/>
            <a:ext cx="1551296" cy="1070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BD93065-C21F-6ED2-48AE-F24260A5D2F6}"/>
              </a:ext>
            </a:extLst>
          </p:cNvPr>
          <p:cNvCxnSpPr/>
          <p:nvPr/>
        </p:nvCxnSpPr>
        <p:spPr>
          <a:xfrm>
            <a:off x="2307650" y="4177919"/>
            <a:ext cx="15512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064D35E-E98D-C967-CE4E-F3077C55C4DA}"/>
              </a:ext>
            </a:extLst>
          </p:cNvPr>
          <p:cNvCxnSpPr/>
          <p:nvPr/>
        </p:nvCxnSpPr>
        <p:spPr>
          <a:xfrm flipV="1">
            <a:off x="2307650" y="4394579"/>
            <a:ext cx="1551296" cy="99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59BFF90-4D45-CAB5-681E-F591603A32F3}"/>
              </a:ext>
            </a:extLst>
          </p:cNvPr>
          <p:cNvCxnSpPr/>
          <p:nvPr/>
        </p:nvCxnSpPr>
        <p:spPr>
          <a:xfrm>
            <a:off x="7000362" y="4177919"/>
            <a:ext cx="17199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45E6F02-DC0F-7ED9-865B-934FA7D9963C}"/>
              </a:ext>
            </a:extLst>
          </p:cNvPr>
          <p:cNvSpPr txBox="1"/>
          <p:nvPr/>
        </p:nvSpPr>
        <p:spPr>
          <a:xfrm>
            <a:off x="163773" y="6264322"/>
            <a:ext cx="11668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Figure: Integration of multi-source environmental, spatial, and anthropogenic datasets into a unified machine learning pipeline.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56653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FF96-DCDF-0ED5-FA66-51F818F65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&amp; preprocessing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48359-FE5E-A8DC-A387-0154E46A7D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903068"/>
            <a:ext cx="10363826" cy="4336415"/>
          </a:xfrm>
        </p:spPr>
        <p:txBody>
          <a:bodyPr>
            <a:normAutofit fontScale="2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E" sz="6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Features: Latitude, Longitude, Region, Ocean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6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Features: Year, Month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6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Features: Current Speed, Temperature, Salinity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6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Anthropogenic Features: Population Density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6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Sampling-related 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6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Method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6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6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Marine Setting</a:t>
            </a:r>
          </a:p>
          <a:p>
            <a:pPr marL="0" indent="0">
              <a:buNone/>
            </a:pPr>
            <a:r>
              <a:rPr lang="en-IE" sz="6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Applied</a:t>
            </a:r>
            <a:endParaRPr lang="en-IE" sz="6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E" sz="6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 (Categorical Variables)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6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Scaling (Numerical Variables)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6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Transformation Of Target Variable (Np.Log1p)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97527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40162-77D6-E802-B151-C91A68702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Model 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2A5A3-3BBE-0A2F-1540-471FA76539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67886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E" sz="33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Evaluated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33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(Primary Metric)</a:t>
            </a:r>
            <a:r>
              <a:rPr lang="en-IE" sz="33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Variance Explained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33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r>
              <a:rPr lang="en-IE" sz="33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Prediction Error Magnitude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33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r>
              <a:rPr lang="en-IE" sz="33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Robustness To Outliers</a:t>
            </a:r>
          </a:p>
          <a:p>
            <a:pPr>
              <a:buFont typeface="Arial" panose="020B0604020202020204" pitchFamily="34" charset="0"/>
              <a:buChar char="•"/>
            </a:pPr>
            <a:endParaRPr lang="en-IE" sz="33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E" sz="33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Approach</a:t>
            </a:r>
            <a:endParaRPr lang="en-IE" sz="33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E" sz="33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80:20 Train–test Split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33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During 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33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Unseen Test Set For Final Reporting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471978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4429-24DD-1AC4-E511-14C1611F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Machine Learning Models AND Performance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B1430CB-674E-0FAE-00FB-7E15017484F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13523" y="2001373"/>
            <a:ext cx="4722896" cy="4003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Multiple Models?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assess robustness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avoid algorithm-specific bias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best-performing approach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cap="none" dirty="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B22417-FB04-31C6-4FF2-CFF5F440B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608" y="2001373"/>
            <a:ext cx="5163271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90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6A666-D2F2-D495-6D90-ECC11FB30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 analysis</a:t>
            </a:r>
            <a:endParaRPr lang="en-I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EF76EC-FCD5-357A-03D6-8D210600705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2647985"/>
            <a:ext cx="257859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plot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Ocean current speed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Sampling method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FBCF54-B11D-8AD8-45E9-7498C5CF3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151" y="2360269"/>
            <a:ext cx="6556541" cy="343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509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F1229-3AAE-E0CC-0082-EA3DAB83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Exploratory Data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434107-B28E-D652-71A0-F037E54F81C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1955492"/>
            <a:ext cx="323999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spatial distribution map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 comparison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Temporal trend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5CCFE4-6AB8-5EF1-98C6-90E424B19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154" y="3495708"/>
            <a:ext cx="3258005" cy="16684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0CFCD4-BF2E-FA8B-13EE-80D2CAF58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43" y="1712462"/>
            <a:ext cx="8268311" cy="34516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861190-35E0-D5CE-1B03-DFEC7C43D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154" y="1712462"/>
            <a:ext cx="3258005" cy="178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162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60F93-3D9A-DCAB-C769-D15F2EC48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Conclusion &amp; contributions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CBB50B-FF8C-86D2-857D-0B0A26C6D8B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2051925"/>
            <a:ext cx="6782113" cy="4054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E" sz="1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Conclusions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Effectively Model Global Microplastic Concentration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6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E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Outperforms Other Models In Accuracy And Stability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And Regional Drivers Dominate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Variability Significantly Affects Observed Concentrations</a:t>
            </a:r>
          </a:p>
          <a:p>
            <a:pPr marL="0" indent="0">
              <a:buNone/>
            </a:pPr>
            <a:r>
              <a:rPr lang="en-IE" sz="1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Global-scale Predictive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Environmental + Anthropogenic + Sampling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Empirical Support For Data-driven Marine Pollution Modelling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934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C5E89-7A27-D73C-FC19-7A208388F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Limitations and future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CB8723-3ED9-D02A-035F-E4B9B457516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1840072"/>
            <a:ext cx="6155766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E" sz="1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Environmental Representation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Bias In Observational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Explicit Particle Drift Trajectories</a:t>
            </a:r>
          </a:p>
          <a:p>
            <a:pPr>
              <a:buFont typeface="Arial" panose="020B0604020202020204" pitchFamily="34" charset="0"/>
              <a:buChar char="•"/>
            </a:pPr>
            <a:endParaRPr lang="en-IE" sz="1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E" sz="1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Time-resolved Oceanographic Coupling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Physical Drift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Inclusion Of River Discharge And Waste Management Indicators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6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Spatio</a:t>
            </a:r>
            <a:r>
              <a:rPr lang="en-IE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-temporal Deep Learning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41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56DFDF-837F-BF64-B3D0-D685E9AACAF7}"/>
              </a:ext>
            </a:extLst>
          </p:cNvPr>
          <p:cNvSpPr txBox="1"/>
          <p:nvPr/>
        </p:nvSpPr>
        <p:spPr>
          <a:xfrm>
            <a:off x="2937681" y="1820418"/>
            <a:ext cx="609372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E" sz="3600" cap="all" dirty="0">
                <a:latin typeface="+mj-lt"/>
                <a:ea typeface="+mj-ea"/>
                <a:cs typeface="+mj-cs"/>
              </a:rPr>
              <a:t>       </a:t>
            </a:r>
            <a:r>
              <a:rPr lang="en-IE" sz="4800" cap="all" dirty="0">
                <a:latin typeface="+mj-lt"/>
                <a:ea typeface="+mj-ea"/>
                <a:cs typeface="+mj-cs"/>
              </a:rPr>
              <a:t>THANK YOU</a:t>
            </a:r>
          </a:p>
          <a:p>
            <a:pPr marL="0" indent="0">
              <a:buNone/>
            </a:pPr>
            <a:endParaRPr lang="en-IE" sz="3600" cap="all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IE" sz="3600" cap="all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IE" sz="2800" cap="all" dirty="0">
                <a:latin typeface="+mj-lt"/>
                <a:ea typeface="+mj-ea"/>
                <a:cs typeface="+mj-cs"/>
              </a:rPr>
              <a:t>Questions &amp; Answers (Q&amp;A)</a:t>
            </a:r>
            <a:endParaRPr lang="en-US" sz="2800" cap="all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5560228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321</TotalTime>
  <Words>575</Words>
  <Application>Microsoft Office PowerPoint</Application>
  <PresentationFormat>Widescreen</PresentationFormat>
  <Paragraphs>193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Times New Roman</vt:lpstr>
      <vt:lpstr>Tw Cen MT</vt:lpstr>
      <vt:lpstr>Droplet</vt:lpstr>
      <vt:lpstr>Predicting Microplastic Concentration in Ocean Waters Using Environmental, Spatial, and Sampling-Related Features</vt:lpstr>
      <vt:lpstr>Background AND motivation</vt:lpstr>
      <vt:lpstr>Research problem and Objectives</vt:lpstr>
      <vt:lpstr>Reference Research Study</vt:lpstr>
      <vt:lpstr>Data Sources and Data integration</vt:lpstr>
      <vt:lpstr>Feature engineering &amp; preprocessing</vt:lpstr>
      <vt:lpstr>Model Evaluation Metrics</vt:lpstr>
      <vt:lpstr>Machine Learning Models AND Performance</vt:lpstr>
      <vt:lpstr>Feature importance analysis</vt:lpstr>
      <vt:lpstr>Exploratory Data Analysis</vt:lpstr>
      <vt:lpstr>Conclusion &amp; contributions</vt:lpstr>
      <vt:lpstr>Limitations and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Abhinav Tyagi</dc:creator>
  <cp:lastModifiedBy>Abhinav Tyagi</cp:lastModifiedBy>
  <cp:revision>3</cp:revision>
  <dcterms:created xsi:type="dcterms:W3CDTF">2026-01-04T18:14:28Z</dcterms:created>
  <dcterms:modified xsi:type="dcterms:W3CDTF">2026-01-07T01:27:17Z</dcterms:modified>
</cp:coreProperties>
</file>